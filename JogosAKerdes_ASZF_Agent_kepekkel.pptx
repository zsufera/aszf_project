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3" autoAdjust="0"/>
    <p:restoredTop sz="87324" autoAdjust="0"/>
  </p:normalViewPr>
  <p:slideViewPr>
    <p:cSldViewPr snapToGrid="0" snapToObjects="1">
      <p:cViewPr varScale="1">
        <p:scale>
          <a:sx n="80" d="100"/>
          <a:sy n="80" d="100"/>
        </p:scale>
        <p:origin x="55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517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— CÍM
Üdvözlöm a vezetőséget! A Jogos A Kérdés csapat nevében bemutatjuk az ÁSZF Q&amp;A Agent PoC eredményeit.
Mi ez? Belső ügyintézői AI-asszisztens — NEM az ügyféllel kommunikáló bot. Az ügyintézőt segíti a szerződési feltételek keresésében és forrásolt válaszok szerkesztésében.
3 kulcsszám: 100% forráshűség · 90% kategória-pontosság · 6 mp válaszidő P95
Kérjük a projekt folytatásának engedélyezését.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— PROBLÉMA
A probléma valós és üzletileg fájdalmas:
Egy telekommunikációs vállalat ügyfélszolgálata naponta több száz panaszt kap. Az ügyintézőnek minden ügynél kézzel kell megkeresnie a vonatkozó ÁSZF-paragrafust 1000+ oldalas dokumentumokból — ez lassú, és könnyű félreidézni egy jogi feltételt.
A feladatkiírás (9. téma): AI agent, amely természetes nyelven feltett kérdésekre pontosan és forráshivatkozással válaszol a szervezet hatályos ÁSZF-jei alapján.
Fontos: MI NEM az ügyféllel kommunikáló botot építettünk — BELSŐ ügyintézői eszköz. A végső döntés és kiküldés végig ember kezében marad.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— MEGOLDÁS
4 lépéses flow:
1) Bejövő üzenet — email/chat/telefon-átirat/OCR
2) GDPR-maszkolás ELSŐ lépésként — innentől csak anonim szöveg
3) AI osztályozás + hibrid ÁSZF-keresés (Qdrant dense+sparse, 10 103 chunk)
4) Forrásolt draft — ügyintéző dönt, nem az AI
Két agent-mód:
- Email-pipeline: lineáris LangGraph (auditálható, determinisztikus) — megfelelőségi előny
- Ügyintézői chat: orchestrator-vezérelt (rugalmas, több fordulós)
- MINDKETTŐ: közös service-réteg → nincs kódduplikáció, guardrailek egy helyen
On-prem módban: teljes egress-tiltás lehetséges, determinisztikus fallback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— KPI-OK
5 KPI zöld:
- Forráshűség: 100% (cél 95%)
- Kategória-pontosság: 90% (cél 80%)
- Válaszidő P95: 6,1 mp (cél 30 mp) — ötször gyorsabb a célnál!
- Retrieval coverage: 100% (cél 80%)
- PII-maszkolás: 100% — egyetlen adat sem jutott ki
1 KPI kalibrációban:
- Eszkaláció-eval: gold set hiányos → metrika 0.0, de a use case-ek manuálisan zölden futnak
- Kommunikálj így: 'Az eszkalációs logika működik, a mérési metrika kalibrációt igényel'
n=10 minta (PoC-szintű) — production-pilotban bővítjük.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— ARCHITEKTÚRA
Frontend: React SPA (TypeScript + Tailwind), 10 képernyő
Backend: FastAPI + Python, SQLite (ügyek, draftok, audit-napló, PII-token-térkép)
AI Agent (hibrid):
  - Email: lineáris LangGraph (12 node, auditálható)
  - Chat: orchestrator-vezérelt tool-calling agent (rugalmas)
  - Közös mag-logika — nincs kódduplikáció, guardrailek egy helyen
Keresés: Qdrant beágyazott mód — Docker nélkül, helyi futtatás
  32 ÁSZF-PDF → 10 103 chunk, hibrid dense+sparse retrieval
Cloud LLM: GPT-4.1 + text-embedding-3-large
On-prem mód: PROVIDER=onprem → teljes egress-tiltás, determinisztikus fallback
Compliance: DPIA elkészült, AI Act korlátozott kockázatú rendszer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— DEMO
A PoC teljesen működő rendszer — nem mockup!
5 funkció:
1) Email Inbox: 16 szintetikus panasz-email
2) Ügyintézői chat: orchestrator, visszakérdezés
3) Supervisor dashboard: eszkalált ügyek
4) Eval UI: LLM-bíró + emberi pontozás
5) Acceptance gate: CI/CD kapu
4 automatizált szcenárió (mind zöld):
- szamlazas_e2e
- egyedi_szerzodes_eszkalacio
- sla_lejarat_eszkalacio
- phone_copilot (chat mód)
Valós adat: 32 ÁSZF-PDF, 10 103 chunk. Mock: panasz-emailek, CRM, email-küldés.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— KORLÁTOK ÉS ROADMAP
Korlátok (nyíltan kommunikálva):
- n=10: production-pilotban bővítjük
- Eszkalációs benchmark: gold set kalibrációban
- Regex maszkolás → Presidio NER prod-roadmap
- Mock CRM/email/ügyféltörzs → interfész-mock architektúra (könnyen beköthetők)
- SQLite → Postgres production-ban
Roadmap:
30 nap: jobb maszkolás, valós email-adapter, reranker
60 nap: CRM integráció, többszintű jóváhagyás, Postgres
90 nap: GDPR-konform audit, Azure OpenAI EU DPA, pilot KPI-mérés
Compliance:
- GDPR: maszkolás első lépés, reverzibilis PII-token-térkép
- AI Act: human-in-the-loop alapértelmezett, Art. 22 audit-esemény
- NIS2/Eht.: prod-roadmap, dokumentált
- DPIA: leszállítva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— ZÁRÓ CTA
Összefoglalás:
- 5/6 KPI zöld: 100% forráshűség, 90% kategória-pont., 6 mp válaszidő, 100% coverage, 100% PII-maszk
- 4/4 demó-szcenárió sikeresen fut
- 10 103 ÁSZF-chunk indexálva (32 PDF)
- Teljesen működő rendszer, 10 képernyős frontend
- Compliance-tudatos: GDPR, AI Act, DPIA elkészült
- Tiszta architektúra: interfész-mock → éles rendszerek könnyen beköthetők
KÉRÉSÜNK: a fenti PoC-eredmények alapján kérjük a projekt folytatásának jóváhagyását.
Köszönjük a figyelmet — Q&amp;A!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646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320040"/>
            <a:ext cx="2377440" cy="402336"/>
          </a:xfrm>
          <a:prstGeom prst="rect">
            <a:avLst/>
          </a:prstGeom>
          <a:solidFill>
            <a:srgbClr val="15A5B2">
              <a:alpha val="80000"/>
            </a:srgbClr>
          </a:solidFill>
          <a:ln w="12700">
            <a:solidFill>
              <a:srgbClr val="15A5B2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32004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Jogos A Kérdés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365760" y="914400"/>
            <a:ext cx="11430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ÁSZF Q&amp;A </a:t>
            </a:r>
            <a:r>
              <a:rPr lang="en-US" sz="5200" b="1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AGENT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424815" y="1965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Belső ügyintézői AI-asszisztens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szerződési feltételek kezeléséhez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65760" y="3291840"/>
            <a:ext cx="4114800" cy="36576"/>
          </a:xfrm>
          <a:prstGeom prst="rect">
            <a:avLst/>
          </a:prstGeom>
          <a:solidFill>
            <a:srgbClr val="15A5B2"/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3456432"/>
            <a:ext cx="3063240" cy="1828800"/>
          </a:xfrm>
          <a:prstGeom prst="rect">
            <a:avLst/>
          </a:prstGeom>
          <a:solidFill>
            <a:srgbClr val="2A2A2A">
              <a:alpha val="80000"/>
            </a:srgbClr>
          </a:solidFill>
          <a:ln w="15240">
            <a:solidFill>
              <a:srgbClr val="15A5B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3502152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100%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365760" y="44805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Forráshűség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657600" y="3456432"/>
            <a:ext cx="3063240" cy="1828800"/>
          </a:xfrm>
          <a:prstGeom prst="rect">
            <a:avLst/>
          </a:prstGeom>
          <a:solidFill>
            <a:srgbClr val="2A2A2A">
              <a:alpha val="80000"/>
            </a:srgbClr>
          </a:solidFill>
          <a:ln w="15240">
            <a:solidFill>
              <a:srgbClr val="15A5B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0" y="3502152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90%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3657600" y="44805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Kategória-pont.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949440" y="3456432"/>
            <a:ext cx="3063240" cy="1828800"/>
          </a:xfrm>
          <a:prstGeom prst="rect">
            <a:avLst/>
          </a:prstGeom>
          <a:solidFill>
            <a:srgbClr val="2A2A2A">
              <a:alpha val="80000"/>
            </a:srgbClr>
          </a:solidFill>
          <a:ln w="15240">
            <a:solidFill>
              <a:srgbClr val="15A5B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49440" y="3502152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 mp</a:t>
            </a:r>
            <a:endParaRPr lang="en-US" sz="4000" dirty="0"/>
          </a:p>
        </p:txBody>
      </p:sp>
      <p:sp>
        <p:nvSpPr>
          <p:cNvPr id="16" name="Text 13"/>
          <p:cNvSpPr/>
          <p:nvPr/>
        </p:nvSpPr>
        <p:spPr>
          <a:xfrm>
            <a:off x="6949440" y="44805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Válaszidő P95</a:t>
            </a:r>
            <a:endParaRPr lang="en-US" sz="13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248" y="5788152"/>
            <a:ext cx="1920240" cy="7589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64646"/>
          </a:solidFill>
          <a:ln w="12700">
            <a:solidFill>
              <a:srgbClr val="46464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A probléma és a feladat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11430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9. hackathon téma: ÁSZF és szerződési feltételek Q&amp;A agentje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594360" cy="594360"/>
          </a:xfrm>
          <a:prstGeom prst="line">
            <a:avLst/>
          </a:prstGeom>
          <a:solidFill>
            <a:srgbClr val="464646"/>
          </a:solidFill>
          <a:ln w="19050">
            <a:solidFill>
              <a:srgbClr val="15A5B2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80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1887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6464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Napi több száz panasz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97280" y="157276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Ügyfélszolgálat emailben, chaten, telefonon és postai levélben fogadja a panaszokat — minden esetnél kézi ÁSZF-keresés szükséges.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0040" y="2724912"/>
            <a:ext cx="594360" cy="594360"/>
          </a:xfrm>
          <a:prstGeom prst="line">
            <a:avLst/>
          </a:prstGeom>
          <a:solidFill>
            <a:srgbClr val="464646"/>
          </a:solidFill>
          <a:ln w="19050">
            <a:solidFill>
              <a:srgbClr val="15A5B2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74320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26517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6464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Hibalehetőség és lassúság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097280" y="303580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Több ezer oldalas dokumentumokban való kézi keresés lassú és könnyen félreidézhet egy jogi feltételt.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20040" y="4187952"/>
            <a:ext cx="594360" cy="594360"/>
          </a:xfrm>
          <a:prstGeom prst="line">
            <a:avLst/>
          </a:prstGeom>
          <a:solidFill>
            <a:srgbClr val="464646"/>
          </a:solidFill>
          <a:ln w="19050">
            <a:solidFill>
              <a:srgbClr val="15A5B2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420624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41148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6464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Ügyintéző terhe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097280" y="449884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Az értékes munkaidő apró, ismétlődő kereséssel megy el a tartalmi ügyek kezelése helyett.</a:t>
            </a:r>
            <a:endParaRPr lang="en-US" sz="1150" dirty="0"/>
          </a:p>
        </p:txBody>
      </p:sp>
      <p:pic>
        <p:nvPicPr>
          <p:cNvPr id="21" name="Picture 20" descr="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1097280"/>
            <a:ext cx="5608320" cy="512064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5A5B2">
              <a:alpha val="85000"/>
            </a:srgbClr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20040" y="6217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6464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Megoldás: belső ügyintézői AI-asszisztens — ember a hurokban, minden kimenő üzenetet az ügyintéző hagy jóvá</a:t>
            </a:r>
            <a:endParaRPr lang="en-US" sz="12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85248" y="6078093"/>
            <a:ext cx="1920240" cy="7589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646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A megoldás — </a:t>
            </a:r>
            <a:r>
              <a:rPr lang="en-US" sz="2800" b="1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hogyan működik?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04672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Két agent-mód, közös üzleti logikán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353312"/>
            <a:ext cx="548640" cy="548640"/>
          </a:xfrm>
          <a:prstGeom prst="line">
            <a:avLst/>
          </a:prstGeom>
          <a:solidFill>
            <a:srgbClr val="15A5B2"/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53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12801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Bejövő panasz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66420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CCCC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Email / chat / telefon-átirat / postai PDF (OCR)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21208" y="1920240"/>
            <a:ext cx="54864" cy="320040"/>
          </a:xfrm>
          <a:prstGeom prst="rect">
            <a:avLst/>
          </a:prstGeom>
          <a:solidFill>
            <a:srgbClr val="15A5B2">
              <a:alpha val="40000"/>
            </a:srgbClr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542032"/>
            <a:ext cx="548640" cy="548640"/>
          </a:xfrm>
          <a:prstGeom prst="line">
            <a:avLst/>
          </a:prstGeom>
          <a:solidFill>
            <a:srgbClr val="15A5B2"/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542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24688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GDPR-maszkolás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85292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CCCC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PII anonimizálás — innentől csak anonim szöveg halad tovább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1208" y="3108960"/>
            <a:ext cx="54864" cy="320040"/>
          </a:xfrm>
          <a:prstGeom prst="rect">
            <a:avLst/>
          </a:prstGeom>
          <a:solidFill>
            <a:srgbClr val="15A5B2">
              <a:alpha val="40000"/>
            </a:srgbClr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730752"/>
            <a:ext cx="548640" cy="548640"/>
          </a:xfrm>
          <a:prstGeom prst="line">
            <a:avLst/>
          </a:prstGeom>
          <a:solidFill>
            <a:srgbClr val="15A5B2"/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730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05840" y="36576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AI osztályozás + ÁSZF-keresés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404164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CCCC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RAG pipeline: 32 ÁSZF-PDF → 10 103 chunk, hibrid dense+sparse keresés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1208" y="4297680"/>
            <a:ext cx="54864" cy="320040"/>
          </a:xfrm>
          <a:prstGeom prst="rect">
            <a:avLst/>
          </a:prstGeom>
          <a:solidFill>
            <a:srgbClr val="15A5B2">
              <a:alpha val="40000"/>
            </a:srgbClr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4919472"/>
            <a:ext cx="548640" cy="548640"/>
          </a:xfrm>
          <a:prstGeom prst="line">
            <a:avLst/>
          </a:prstGeom>
          <a:solidFill>
            <a:srgbClr val="15A5B2"/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919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05840" y="48463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Forrásolt draft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523036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CCCC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Ügyintéző jóváhagyja és küldi — EMBER dönt, nem az AI</a:t>
            </a:r>
            <a:endParaRPr lang="en-US" sz="1100" dirty="0"/>
          </a:p>
        </p:txBody>
      </p:sp>
      <p:pic>
        <p:nvPicPr>
          <p:cNvPr id="33" name="Picture 32" descr="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234440"/>
            <a:ext cx="5806440" cy="5120640"/>
          </a:xfrm>
          <a:prstGeom prst="rect">
            <a:avLst/>
          </a:prstGeom>
        </p:spPr>
      </p:pic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248" y="5788152"/>
            <a:ext cx="1920240" cy="7589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 descr="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64646"/>
          </a:solidFill>
          <a:ln w="12700">
            <a:solidFill>
              <a:srgbClr val="46464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PoC sikeresnek tekinthető, ha…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11430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Mérőszámok, célértékek és valós eredmények — eval-futás: 2026-06-11, n=10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3657600" cy="2011680"/>
          </a:xfrm>
          <a:prstGeom prst="rect">
            <a:avLst/>
          </a:prstGeom>
          <a:solidFill>
            <a:srgbClr val="E8F8F0"/>
          </a:solidFill>
          <a:ln w="19050">
            <a:solidFill>
              <a:srgbClr val="15A5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88720"/>
            <a:ext cx="3657600" cy="182880"/>
          </a:xfrm>
          <a:prstGeom prst="rect">
            <a:avLst/>
          </a:prstGeom>
          <a:solidFill>
            <a:srgbClr val="15A5B2"/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6464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Forráshűség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8745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" y="27249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Cél: ≥ 95%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51960" y="1188720"/>
            <a:ext cx="3657600" cy="2011680"/>
          </a:xfrm>
          <a:prstGeom prst="rect">
            <a:avLst/>
          </a:prstGeom>
          <a:solidFill>
            <a:srgbClr val="E8F8F0"/>
          </a:solidFill>
          <a:ln w="19050">
            <a:solidFill>
              <a:srgbClr val="15A5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51960" y="1188720"/>
            <a:ext cx="3657600" cy="182880"/>
          </a:xfrm>
          <a:prstGeom prst="rect">
            <a:avLst/>
          </a:prstGeom>
          <a:solidFill>
            <a:srgbClr val="15A5B2"/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1417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6464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Kategória-pontosság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51960" y="18745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90%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251960" y="27249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Cél: ≥ 80%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83880" y="1188720"/>
            <a:ext cx="3657600" cy="2011680"/>
          </a:xfrm>
          <a:prstGeom prst="rect">
            <a:avLst/>
          </a:prstGeom>
          <a:solidFill>
            <a:srgbClr val="E8F8F0"/>
          </a:solidFill>
          <a:ln w="19050">
            <a:solidFill>
              <a:srgbClr val="15A5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83880" y="1188720"/>
            <a:ext cx="3657600" cy="182880"/>
          </a:xfrm>
          <a:prstGeom prst="rect">
            <a:avLst/>
          </a:prstGeom>
          <a:solidFill>
            <a:srgbClr val="15A5B2"/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83880" y="1417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6464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Válaszidő P95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83880" y="18745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6,1 mp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183880" y="27249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Cél: ≤ 30 mp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474720"/>
            <a:ext cx="3657600" cy="2011680"/>
          </a:xfrm>
          <a:prstGeom prst="rect">
            <a:avLst/>
          </a:prstGeom>
          <a:solidFill>
            <a:srgbClr val="E8F8F0"/>
          </a:solidFill>
          <a:ln w="19050">
            <a:solidFill>
              <a:srgbClr val="15A5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474720"/>
            <a:ext cx="3657600" cy="182880"/>
          </a:xfrm>
          <a:prstGeom prst="rect">
            <a:avLst/>
          </a:prstGeom>
          <a:solidFill>
            <a:srgbClr val="15A5B2"/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703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6464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Retrieval coverage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0040" y="41605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100%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320040" y="50109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Cél: ≥ 80%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51960" y="3474720"/>
            <a:ext cx="3657600" cy="2011680"/>
          </a:xfrm>
          <a:prstGeom prst="rect">
            <a:avLst/>
          </a:prstGeom>
          <a:solidFill>
            <a:srgbClr val="E8F8F0"/>
          </a:solidFill>
          <a:ln w="19050">
            <a:solidFill>
              <a:srgbClr val="15A5B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51960" y="3474720"/>
            <a:ext cx="3657600" cy="182880"/>
          </a:xfrm>
          <a:prstGeom prst="rect">
            <a:avLst/>
          </a:prstGeom>
          <a:solidFill>
            <a:srgbClr val="15A5B2"/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51960" y="3703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6464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PII-maszkolás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51960" y="41605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100%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4251960" y="50109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Cél: 100%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83880" y="3474720"/>
            <a:ext cx="3657600" cy="2011680"/>
          </a:xfrm>
          <a:prstGeom prst="rect">
            <a:avLst/>
          </a:prstGeom>
          <a:solidFill>
            <a:srgbClr val="FFF3E0"/>
          </a:solidFill>
          <a:ln w="19050">
            <a:solidFill>
              <a:srgbClr val="F26B4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83880" y="3474720"/>
            <a:ext cx="3657600" cy="182880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83880" y="3703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6464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Eszkaláció-eval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183880" y="41605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26B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kalibr.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8183880" y="50109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Cél: ≥ 90%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0040" y="6242685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888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* Eszkalációs eval-metrika: gold set kalibrációban — az eszkalációs logika a demókban működik</a:t>
            </a:r>
            <a:endParaRPr lang="en-US" sz="950" dirty="0"/>
          </a:p>
        </p:txBody>
      </p:sp>
      <p:pic>
        <p:nvPicPr>
          <p:cNvPr id="38" name="Image 0" descr="preencoded.png">
            <a:extLst>
              <a:ext uri="{FF2B5EF4-FFF2-40B4-BE49-F238E27FC236}">
                <a16:creationId xmlns:a16="http://schemas.microsoft.com/office/drawing/2014/main" id="{4493D0DB-D194-4614-84BE-39D92667F5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7900" y="5760720"/>
            <a:ext cx="1920240" cy="7589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646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 / Architektúra és </a:t>
            </a:r>
            <a:r>
              <a:rPr lang="en-US" sz="2800" b="1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technológiai döntések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04672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Frontend · Backend · AI Agent · Vektoros keresés · Cloud LLM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61872"/>
            <a:ext cx="1645920" cy="594360"/>
          </a:xfrm>
          <a:prstGeom prst="rect">
            <a:avLst/>
          </a:prstGeom>
          <a:solidFill>
            <a:srgbClr val="15A5B2">
              <a:alpha val="90000"/>
            </a:srgbClr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6187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Frontend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03120" y="126187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DDDD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React + TypeScript + Tailwind + Vite SPA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157984"/>
            <a:ext cx="1645920" cy="594360"/>
          </a:xfrm>
          <a:prstGeom prst="rect">
            <a:avLst/>
          </a:prstGeom>
          <a:solidFill>
            <a:srgbClr val="15A5B2">
              <a:alpha val="90000"/>
            </a:srgbClr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157984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Backend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03120" y="2157984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DDDD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FastAPI · Python · SQLite (ügyek, draftok, audit, PII-térkép)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3054096"/>
            <a:ext cx="1645920" cy="594360"/>
          </a:xfrm>
          <a:prstGeom prst="rect">
            <a:avLst/>
          </a:prstGeom>
          <a:solidFill>
            <a:srgbClr val="15A5B2">
              <a:alpha val="90000"/>
            </a:srgbClr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3054096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AI Agent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03120" y="3054096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DDDD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LangGraph pipeline (email) + Orchestrator agent (chat) — közös mag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950208"/>
            <a:ext cx="1645920" cy="594360"/>
          </a:xfrm>
          <a:prstGeom prst="rect">
            <a:avLst/>
          </a:prstGeom>
          <a:solidFill>
            <a:srgbClr val="15A5B2">
              <a:alpha val="90000"/>
            </a:srgbClr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95020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Keresés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03120" y="3950208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DDDD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Qdrant beágyazva, helyi — Docker nélkül. Hibrid dense+sparse, 10 103 chunk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4846320"/>
            <a:ext cx="1645920" cy="594360"/>
          </a:xfrm>
          <a:prstGeom prst="rect">
            <a:avLst/>
          </a:prstGeom>
          <a:solidFill>
            <a:srgbClr val="15A5B2">
              <a:alpha val="90000"/>
            </a:srgbClr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8463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Cloud LLM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03120" y="48463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DDDD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OpenAI GPT-4.1 (osztályozás/draft/verify/eszkaláció) + text-embedding-3-large</a:t>
            </a:r>
            <a:endParaRPr lang="en-US" sz="1100" dirty="0"/>
          </a:p>
        </p:txBody>
      </p:sp>
      <p:pic>
        <p:nvPicPr>
          <p:cNvPr id="23" name="Picture 22" descr="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097280"/>
            <a:ext cx="5486400" cy="466344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0" y="5943600"/>
            <a:ext cx="12188952" cy="548640"/>
          </a:xfrm>
          <a:prstGeom prst="rect">
            <a:avLst/>
          </a:prstGeom>
          <a:solidFill>
            <a:srgbClr val="1A1A1A"/>
          </a:solidFill>
          <a:ln w="6350">
            <a:solidFill>
              <a:srgbClr val="15A5B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0040" y="59436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Compliance: GDPR adatminimalizálás · AI Act human-in-the-loop · NIS2 · Eht. · DPIA elkészült  |  github.com/zsufera/ASZF_project</a:t>
            </a:r>
            <a:endParaRPr lang="en-US" sz="10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248" y="5788152"/>
            <a:ext cx="1920240" cy="7589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64646"/>
          </a:solidFill>
          <a:ln w="12700">
            <a:solidFill>
              <a:srgbClr val="46464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 / Demo — amit megvalósítottunk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11430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Teljesen működő rendszer, nem mockup · 4/4 automatizált szcenárió zöld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457200" cy="457200"/>
          </a:xfrm>
          <a:prstGeom prst="line">
            <a:avLst/>
          </a:prstGeom>
          <a:solidFill>
            <a:srgbClr val="15A5B2"/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1887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6464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Email Inbox feldolgozás — 16 verziózott szintetikus mintán (10 fő panasz + 6 edge-case), 7 kategória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2194560"/>
            <a:ext cx="457200" cy="457200"/>
          </a:xfrm>
          <a:prstGeom prst="line">
            <a:avLst/>
          </a:prstGeom>
          <a:solidFill>
            <a:srgbClr val="15A5B2"/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21031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6464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Ügyintézői chat — orchestrator dönt, körönként visszakérdezhet, többfordulós munkamenet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3108960"/>
            <a:ext cx="457200" cy="457200"/>
          </a:xfrm>
          <a:prstGeom prst="line">
            <a:avLst/>
          </a:prstGeom>
          <a:solidFill>
            <a:srgbClr val="15A5B2"/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30175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6464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Supervisor dashboard — eszkalált ügyek áttekintése, statisztikák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4023360"/>
            <a:ext cx="457200" cy="457200"/>
          </a:xfrm>
          <a:prstGeom prst="line">
            <a:avLst/>
          </a:prstGeom>
          <a:solidFill>
            <a:srgbClr val="15A5B2"/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39319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6464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 UI — LLM-bíró és emberi spot-check párhuzamosan, 1–5 pontozás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4937760"/>
            <a:ext cx="457200" cy="457200"/>
          </a:xfrm>
          <a:prstGeom prst="line">
            <a:avLst/>
          </a:prstGeom>
          <a:solidFill>
            <a:srgbClr val="15A5B2"/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" y="48463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6464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Acceptance gate — automatikus CI/CD minőségi kapu az összes eval-KPI-ra</a:t>
            </a:r>
            <a:endParaRPr lang="en-US" sz="1150" dirty="0"/>
          </a:p>
        </p:txBody>
      </p:sp>
      <p:pic>
        <p:nvPicPr>
          <p:cNvPr id="39" name="Picture 38" descr="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097280"/>
            <a:ext cx="5349240" cy="5120640"/>
          </a:xfrm>
          <a:prstGeom prst="rect">
            <a:avLst/>
          </a:prstGeom>
        </p:spPr>
      </p:pic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248" y="5788152"/>
            <a:ext cx="1920240" cy="7589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646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 / Korlátok, compliance és </a:t>
            </a:r>
            <a:r>
              <a:rPr lang="en-US" sz="2800" b="1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következő lépések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04672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Transzparens kommunikáció és ütemezett roadmap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1234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Jelenlegi korlátok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810512"/>
            <a:ext cx="256032" cy="256032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810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!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7373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CCCC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n=10 eval-minta (PoC-szintű, bővítendő)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2496312"/>
            <a:ext cx="256032" cy="256032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496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!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4231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CCCC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Eszkalációs benchmark gold set kalibrációban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3182112"/>
            <a:ext cx="256032" cy="256032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31821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!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31089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CCCC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Regex maszkolás (Presidio NER: prod-roadmap)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3867912"/>
            <a:ext cx="256032" cy="256032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867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!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37947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CCCC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Mock CRM / email-küldés / ügyféltörzs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4553712"/>
            <a:ext cx="256032" cy="256032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553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!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44805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CCCC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SQLite → Postgres: production-ra szükséges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0" y="5943600"/>
            <a:ext cx="12188952" cy="548640"/>
          </a:xfrm>
          <a:prstGeom prst="rect">
            <a:avLst/>
          </a:prstGeom>
          <a:solidFill>
            <a:srgbClr val="1A1A1A"/>
          </a:solidFill>
          <a:ln w="6350">
            <a:solidFill>
              <a:srgbClr val="15A5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59436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Compliance: GDPR · AI Act human-in-the-loop · NIS2 prod-roadmap · Eht. · DPIA leszállítva</a:t>
            </a:r>
            <a:endParaRPr lang="en-US" sz="1050" dirty="0"/>
          </a:p>
        </p:txBody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248" y="5788152"/>
            <a:ext cx="1920240" cy="758952"/>
          </a:xfrm>
          <a:prstGeom prst="rect">
            <a:avLst/>
          </a:prstGeom>
        </p:spPr>
      </p:pic>
      <p:pic>
        <p:nvPicPr>
          <p:cNvPr id="35" name="Picture 34" descr="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207008"/>
            <a:ext cx="58064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646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457200"/>
            <a:ext cx="11247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PoC igazolta</a:t>
            </a:r>
            <a:endParaRPr lang="en-US" sz="4800" dirty="0"/>
          </a:p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megközelítést.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Kérjük a projekt folytatásának engedélyezését.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0" y="3246120"/>
            <a:ext cx="3959352" cy="36576"/>
          </a:xfrm>
          <a:prstGeom prst="rect">
            <a:avLst/>
          </a:prstGeom>
          <a:solidFill>
            <a:srgbClr val="15A5B2"/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401568"/>
            <a:ext cx="3246120" cy="1920240"/>
          </a:xfrm>
          <a:prstGeom prst="rect">
            <a:avLst/>
          </a:prstGeom>
          <a:solidFill>
            <a:srgbClr val="2A2A2A"/>
          </a:solidFill>
          <a:ln w="19050">
            <a:solidFill>
              <a:srgbClr val="15A5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3401568"/>
            <a:ext cx="3246120" cy="137160"/>
          </a:xfrm>
          <a:prstGeom prst="rect">
            <a:avLst/>
          </a:prstGeom>
          <a:solidFill>
            <a:srgbClr val="15A5B2"/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53872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5/6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914400" y="4517136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KPI zöld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(1 kalibrációban)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3401568"/>
            <a:ext cx="3246120" cy="1920240"/>
          </a:xfrm>
          <a:prstGeom prst="rect">
            <a:avLst/>
          </a:prstGeom>
          <a:solidFill>
            <a:srgbClr val="2A2A2A"/>
          </a:solidFill>
          <a:ln w="19050">
            <a:solidFill>
              <a:srgbClr val="15A5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3401568"/>
            <a:ext cx="3246120" cy="137160"/>
          </a:xfrm>
          <a:prstGeom prst="rect">
            <a:avLst/>
          </a:prstGeom>
          <a:solidFill>
            <a:srgbClr val="15A5B2"/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353872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4480560" y="4517136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demó-szcenárió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sikeresen fut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3401568"/>
            <a:ext cx="3246120" cy="1920240"/>
          </a:xfrm>
          <a:prstGeom prst="rect">
            <a:avLst/>
          </a:prstGeom>
          <a:solidFill>
            <a:srgbClr val="2A2A2A"/>
          </a:solidFill>
          <a:ln w="19050">
            <a:solidFill>
              <a:srgbClr val="15A5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3401568"/>
            <a:ext cx="3246120" cy="137160"/>
          </a:xfrm>
          <a:prstGeom prst="rect">
            <a:avLst/>
          </a:prstGeom>
          <a:solidFill>
            <a:srgbClr val="15A5B2"/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353872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k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8046720" y="4517136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ÁSZF-chunk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indexálva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0" y="5486400"/>
            <a:ext cx="5788152" cy="685800"/>
          </a:xfrm>
          <a:prstGeom prst="rect">
            <a:avLst/>
          </a:prstGeom>
          <a:solidFill>
            <a:srgbClr val="15A5B2"/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5486400"/>
            <a:ext cx="5788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→  Projekt folytatás jóváhagyása kérjük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5760" y="6492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777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Jogos A Kérdés csapat  |  github.com/zsufera/ASZF_project</a:t>
            </a:r>
            <a:endParaRPr lang="en-US" sz="95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248" y="5788152"/>
            <a:ext cx="1920240" cy="7589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1526</Words>
  <Application>Microsoft Office PowerPoint</Application>
  <PresentationFormat>Szélesvásznú</PresentationFormat>
  <Paragraphs>123</Paragraphs>
  <Slides>8</Slides>
  <Notes>8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2" baseType="lpstr">
      <vt:lpstr>Arial</vt:lpstr>
      <vt:lpstr>Calibri</vt:lpstr>
      <vt:lpstr>Century Gothic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ÁSZF Q&amp;A Agent — Jogos A Kérdés</dc:title>
  <dc:subject>PptxGenJS Presentation</dc:subject>
  <dc:creator>Jogos A Kérdés</dc:creator>
  <cp:lastModifiedBy>Büky Zita</cp:lastModifiedBy>
  <cp:revision>3</cp:revision>
  <dcterms:created xsi:type="dcterms:W3CDTF">2026-06-12T14:25:58Z</dcterms:created>
  <dcterms:modified xsi:type="dcterms:W3CDTF">2026-06-12T16:22:02Z</dcterms:modified>
</cp:coreProperties>
</file>